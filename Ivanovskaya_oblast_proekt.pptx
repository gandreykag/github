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2462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Приветствие. Представиться, назвать тему проекта — Ивановская область — и коротко анонсировать структуру защиты: география и символы, население и экономика, культура и люди региона, анализ сильных и слабых сторон, личное отношение к малой родине.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Область образована в 1936 году в результате разделения Ивановской промышленной области. Площадь и население — среднего для ЦФО региона; ключевая деталь для запоминания — расстояние до Москвы всего 249 км, что определяет тесные экономические связи со столицей.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Обратить внимание на выгодное транзитное положение области между Москвой и Поволжьем — это исторически способствовало развитию торговли и текстильного производства.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Герб региона — хороший пример того, как геральдика кодирует историю территории: текстиль, революционное прошлое и связь с древними княжествами Владимиром и Суздалем встречаются в одном щите.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Иваново называют «городом невест» именно из-за исторической структуры занятости — преобладания женского труда на текстильных предприятиях. Это удобный переход к следующему слайду об экономике.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Ключевой тезис: экономика области сильно зависит от одной традиционной отрасли — текстиля, что является одновременно сильной стороной (уникальная специализация) и уязвимостью (см. слайд SWOT).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Традиции региона держатся на трёх опорах: народные ремёсла, православная культура и туристическая идентичность «Золотого кольца».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Можно упомянуть, что событийный туризм (фестивали моды и искусства) — одно из направлений развития региона, дополняющее традиционный промышленный образ области.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на защите (если есть) реальные предметы или изображения: палехскую шкатулку, холуйскую миниатюру, образцы традиционных тканей и ситцев.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Сильные стороны опираются на уникальность (Палех, Холуй, текстиль), слабые — на общероссийскую проблему депопуляции малых промышленных регионов.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Возможности связаны с диверсификацией — туризм и бренд региона; угрозы отражают общий демографический тренд для промышленных регионов Центральной России.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Эта цепочка — стержень всей презентации: от труда через текстиль к искусству, ремеслу и исторической памяти. На защите можно вернуться к этой формуле в заключении.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опорных имени и одно историческое событие — минимальный набор фактов для раздела «люди и герои». Портрет Вячеслава Зайцева — на следующем слайде отдельно, так как он родился именно в Иванове.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Зайцев выбран как «личность региона», потому что его судьба напрямую связывает Иваново с текстилем и высокой модой — теми же темами, что проходят через весь социокультурный код области.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Итоговая формула образа региона: текстиль сделал Иваново промышленным центром, Палех и Холуй прославили его искусством, а Плёс и волжские города сформировали культурный и туристический облик области.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с практическими советами хорошо оживляет защиту — можно рассказать о планах собственной поездки или личном опыте, если он есть.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Личный, самый ценный слайд защиты — говорите здесь свободно, своими словами, опираясь на подсказки-вопросы. Именно этот слайд обычно запоминается комиссии больше всего.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Поблагодарить комиссию, коротко напомнить формулу «труд → текстиль → искусство → ремесло → историческая память» и предложить задать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12191695" cy="1965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8B2A26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3749040"/>
            <a:ext cx="3108960" cy="3108960"/>
          </a:xfrm>
          <a:prstGeom prst="ellipse">
            <a:avLst/>
          </a:prstGeom>
          <a:solidFill>
            <a:srgbClr val="C9992E">
              <a:alpha val="2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08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9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ОСНОВЫ РОССИЙСКОЙ ГОСУДАРСТВЕННОСТИ  •  ПРОЕКТ ПО РЕГИОНУ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Ивановская область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9C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Текстильный край в самом сердце России: труд, ремесло, искусство и память поколений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1225296" cy="457200"/>
          </a:xfrm>
          <a:prstGeom prst="roundRect">
            <a:avLst>
              <a:gd name="adj" fmla="val 50000"/>
            </a:avLst>
          </a:prstGeom>
          <a:solidFill>
            <a:srgbClr val="162A45"/>
          </a:solidFill>
          <a:ln w="12700">
            <a:solidFill>
              <a:srgbClr val="C999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16052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AD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Текстиль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249424" y="4160520"/>
            <a:ext cx="1751076" cy="457200"/>
          </a:xfrm>
          <a:prstGeom prst="roundRect">
            <a:avLst>
              <a:gd name="adj" fmla="val 50000"/>
            </a:avLst>
          </a:prstGeom>
          <a:solidFill>
            <a:srgbClr val="162A45"/>
          </a:solidFill>
          <a:ln w="12700">
            <a:solidFill>
              <a:srgbClr val="C999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49424" y="4160520"/>
            <a:ext cx="17510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AD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Палех и Холуй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01668" y="4160520"/>
            <a:ext cx="909828" cy="457200"/>
          </a:xfrm>
          <a:prstGeom prst="roundRect">
            <a:avLst>
              <a:gd name="adj" fmla="val 50000"/>
            </a:avLst>
          </a:prstGeom>
          <a:solidFill>
            <a:srgbClr val="162A45"/>
          </a:solidFill>
          <a:ln w="12700">
            <a:solidFill>
              <a:srgbClr val="C999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01668" y="4160520"/>
            <a:ext cx="9098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AD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Волга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312664" y="4160520"/>
            <a:ext cx="1856232" cy="457200"/>
          </a:xfrm>
          <a:prstGeom prst="roundRect">
            <a:avLst>
              <a:gd name="adj" fmla="val 50000"/>
            </a:avLst>
          </a:prstGeom>
          <a:solidFill>
            <a:srgbClr val="162A45"/>
          </a:solidFill>
          <a:ln w="12700">
            <a:solidFill>
              <a:srgbClr val="C999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12664" y="4160520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AD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Золотое кольцо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38047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 проекта: </a:t>
            </a:r>
            <a:r>
              <a:rPr lang="ru-RU" sz="1300" dirty="0" err="1" smtClean="0">
                <a:solidFill>
                  <a:srgbClr val="B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Гончаров,Попов,Васильев</a:t>
            </a:r>
            <a:r>
              <a:rPr lang="ru-RU" sz="1300" dirty="0" err="1" smtClean="0">
                <a:solidFill>
                  <a:srgbClr val="B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,Блюм</a:t>
            </a:r>
            <a:r>
              <a:rPr lang="en-US" sz="1300" dirty="0" smtClean="0">
                <a:solidFill>
                  <a:srgbClr val="B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</a:t>
            </a:r>
            <a:r>
              <a:rPr lang="ru-RU" sz="1300" dirty="0">
                <a:solidFill>
                  <a:srgbClr val="B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</a:t>
            </a:r>
            <a:r>
              <a:rPr lang="en-US" sz="1300" dirty="0" err="1" smtClean="0">
                <a:solidFill>
                  <a:srgbClr val="B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руппа</a:t>
            </a:r>
            <a:r>
              <a:rPr lang="en-US" sz="1300" dirty="0">
                <a:solidFill>
                  <a:srgbClr val="B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ru-RU" sz="1300" dirty="0" smtClean="0">
                <a:solidFill>
                  <a:srgbClr val="B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4614</a:t>
            </a:r>
            <a:r>
              <a:rPr lang="en-US" sz="1300" dirty="0" smtClean="0">
                <a:solidFill>
                  <a:srgbClr val="B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ГЕОГРАФИЯ И ОБЩИЕ СВЕДЕНИЯ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Ивановская область в цифрах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F6F1E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48840"/>
            <a:ext cx="146304" cy="146304"/>
          </a:xfrm>
          <a:prstGeom prst="ellipse">
            <a:avLst/>
          </a:prstGeom>
          <a:solidFill>
            <a:srgbClr val="8B2A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5000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21 437 км²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260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площадь территории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33672" y="187452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F6F1E7"/>
          </a:solidFill>
          <a:ln/>
        </p:spPr>
      </p:sp>
      <p:sp>
        <p:nvSpPr>
          <p:cNvPr id="9" name="Shape 7"/>
          <p:cNvSpPr/>
          <p:nvPr/>
        </p:nvSpPr>
        <p:spPr>
          <a:xfrm>
            <a:off x="4507992" y="2148840"/>
            <a:ext cx="146304" cy="146304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07992" y="235000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927 828 чел.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4507992" y="29260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население (перепись 2021 г.)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918704" y="187452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F6F1E7"/>
          </a:solidFill>
          <a:ln/>
        </p:spPr>
      </p:sp>
      <p:sp>
        <p:nvSpPr>
          <p:cNvPr id="13" name="Shape 11"/>
          <p:cNvSpPr/>
          <p:nvPr/>
        </p:nvSpPr>
        <p:spPr>
          <a:xfrm>
            <a:off x="8193024" y="2148840"/>
            <a:ext cx="146304" cy="146304"/>
          </a:xfrm>
          <a:prstGeom prst="ellipse">
            <a:avLst/>
          </a:prstGeom>
          <a:solidFill>
            <a:srgbClr val="8B2A2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193024" y="235000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11.03.1936</a:t>
            </a:r>
            <a:endParaRPr lang="en-US" sz="2500" dirty="0"/>
          </a:p>
        </p:txBody>
      </p:sp>
      <p:sp>
        <p:nvSpPr>
          <p:cNvPr id="15" name="Text 13"/>
          <p:cNvSpPr txBox="1"/>
          <p:nvPr/>
        </p:nvSpPr>
        <p:spPr>
          <a:xfrm>
            <a:off x="8193024" y="29260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 образования области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F6F1E7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4206240"/>
            <a:ext cx="146304" cy="146304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40740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249 км</a:t>
            </a:r>
            <a:endParaRPr lang="en-US" sz="25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9834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расстояние до Москвы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233672" y="393192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F6F1E7"/>
          </a:solidFill>
          <a:ln/>
        </p:spPr>
      </p:sp>
      <p:sp>
        <p:nvSpPr>
          <p:cNvPr id="21" name="Shape 19"/>
          <p:cNvSpPr/>
          <p:nvPr/>
        </p:nvSpPr>
        <p:spPr>
          <a:xfrm>
            <a:off x="4507992" y="4206240"/>
            <a:ext cx="146304" cy="146304"/>
          </a:xfrm>
          <a:prstGeom prst="ellipse">
            <a:avLst/>
          </a:prstGeom>
          <a:solidFill>
            <a:srgbClr val="8B2A2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07992" y="440740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г. Иваново</a:t>
            </a:r>
            <a:endParaRPr lang="en-US" sz="2500" dirty="0"/>
          </a:p>
        </p:txBody>
      </p:sp>
      <p:sp>
        <p:nvSpPr>
          <p:cNvPr id="23" name="Text 21"/>
          <p:cNvSpPr txBox="1"/>
          <p:nvPr/>
        </p:nvSpPr>
        <p:spPr>
          <a:xfrm>
            <a:off x="4507992" y="49834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административный центр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918704" y="393192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F6F1E7"/>
          </a:solidFill>
          <a:ln/>
        </p:spPr>
      </p:sp>
      <p:sp>
        <p:nvSpPr>
          <p:cNvPr id="25" name="Shape 23"/>
          <p:cNvSpPr/>
          <p:nvPr/>
        </p:nvSpPr>
        <p:spPr>
          <a:xfrm>
            <a:off x="8193024" y="4206240"/>
            <a:ext cx="146304" cy="146304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193024" y="440740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ЦФО</a:t>
            </a:r>
            <a:endParaRPr lang="en-US" sz="2500" dirty="0"/>
          </a:p>
        </p:txBody>
      </p:sp>
      <p:sp>
        <p:nvSpPr>
          <p:cNvPr id="27" name="Text 25"/>
          <p:cNvSpPr txBox="1"/>
          <p:nvPr/>
        </p:nvSpPr>
        <p:spPr>
          <a:xfrm>
            <a:off x="8193024" y="49834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Центральный федеральный округ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ГЕОГРАФИЯ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Географическое положение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5943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Ивановская область расположена в центре европейской части России, в Центральном федеральном округе.</a:t>
            </a:r>
            <a:endParaRPr lang="en-US" sz="15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Граничит с Ярославской, Костромской, Владимирской и Нижегородской областями.</a:t>
            </a:r>
            <a:endParaRPr lang="en-US" sz="15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территорию области протекает Волга — на реке стоят города Плёс, Кинешма и Юрьевец.</a:t>
            </a:r>
            <a:endParaRPr lang="en-US" sz="15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область проходят важные железнодорожные и водные магистрали, соединяющие центр и запад страны с востоком и юго-востоком.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833212" y="3321358"/>
            <a:ext cx="1920240" cy="1005840"/>
          </a:xfrm>
          <a:prstGeom prst="roundRect">
            <a:avLst>
              <a:gd name="adj" fmla="val 10909"/>
            </a:avLst>
          </a:prstGeom>
          <a:solidFill>
            <a:srgbClr val="8B2A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863840" y="3321358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Ивановская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область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321040" y="160020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F6F1E7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321040" y="1600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6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Ярославская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6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область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0311710" y="246888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F6F1E7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311710" y="2468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6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Костромская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6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область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0049513" y="4146804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F6F1E7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61063" y="4146804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6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Нижегородская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6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область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321040" y="525780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F6F1E7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5257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6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Владимирская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6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область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6217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Схема: соседние регионы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ГЕРБ И ДРУГИЕ СИМВОЛЫ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Символика региона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800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Герб Ивановской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i="1" dirty="0" err="1" smtClean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области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1783080"/>
            <a:ext cx="76809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Щит разделён на красное и синее поля, внизу — три серебряные волнистые полосы, символизирующие реку Уводь.</a:t>
            </a:r>
            <a:endParaRPr lang="en-US" sz="14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Золотой челнок с серебряным сердечником — символ ведущей отрасли области, текстильной промышленности.</a:t>
            </a:r>
            <a:endParaRPr lang="en-US" sz="14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Серебряный факел напоминает о событиях революции 1905 года.</a:t>
            </a:r>
            <a:endParaRPr lang="en-US" sz="14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Щит держат золотой лев (историческая связь с Владимиром) и золотой орёл (связь с Суздалем), венчает его корона.</a:t>
            </a:r>
            <a:endParaRPr lang="en-US" sz="14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Флаг области принят 3 марта 1998 года: вертикальное красно-синее полотнище с гербом наверху и белыми волнами внизу.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1026" name="Picture 2" descr="https://thumb.wikimedia.org/wikipedia/commons/thumb/a/a9/Coat_of_Arms_of_Ivanovo_Oblast.svg/250px-Coat_of_Arms_of_Ivanovo_Oblast.svg.png?utm_source=ru.wikipedia.org&amp;utm_campaign=parser&amp;utm_content=thumbnai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" y="2355836"/>
            <a:ext cx="2831976" cy="1993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ЭТНОС И НАСЕЛЕНИЕ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Население Ивановской области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F6F1E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116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933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</a:rPr>
              <a:t>👥</a:t>
            </a:r>
            <a:endParaRPr lang="en-US" sz="1612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476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927 828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40487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 по переписи 2021 года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33672" y="178308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F6F1E7"/>
          </a:solidFill>
          <a:ln/>
        </p:spPr>
      </p:sp>
      <p:sp>
        <p:nvSpPr>
          <p:cNvPr id="10" name="Shape 8"/>
          <p:cNvSpPr/>
          <p:nvPr/>
        </p:nvSpPr>
        <p:spPr>
          <a:xfrm>
            <a:off x="4462272" y="20116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62272" y="19933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12" dirty="0"/>
          </a:p>
        </p:txBody>
      </p:sp>
      <p:sp>
        <p:nvSpPr>
          <p:cNvPr id="12" name="Text 10"/>
          <p:cNvSpPr txBox="1"/>
          <p:nvPr/>
        </p:nvSpPr>
        <p:spPr>
          <a:xfrm>
            <a:off x="5193792" y="19476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≈82%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193792" y="240487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городского населения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18704" y="178308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F6F1E7"/>
          </a:solidFill>
          <a:ln/>
        </p:spPr>
      </p:sp>
      <p:sp>
        <p:nvSpPr>
          <p:cNvPr id="15" name="Shape 13"/>
          <p:cNvSpPr/>
          <p:nvPr/>
        </p:nvSpPr>
        <p:spPr>
          <a:xfrm>
            <a:off x="8147304" y="20116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47304" y="19933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</a:rPr>
              <a:t>📍</a:t>
            </a:r>
            <a:endParaRPr lang="en-US" sz="1612" dirty="0"/>
          </a:p>
        </p:txBody>
      </p:sp>
      <p:sp>
        <p:nvSpPr>
          <p:cNvPr id="17" name="Text 15"/>
          <p:cNvSpPr txBox="1"/>
          <p:nvPr/>
        </p:nvSpPr>
        <p:spPr>
          <a:xfrm>
            <a:off x="8878824" y="19476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≈355 тыс.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878824" y="240487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жителей в г. Иваново (адм. центр)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521208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3840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Этнический состав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25196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Подавляющее большинство жителей — русские (свыше 95%).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Также проживают украинцы, татары, армяне, азербайджанцы и другие народы.</a:t>
            </a:r>
            <a:endParaRPr lang="en-US" sz="13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Регион исторически многонационален благодаря текстильной промышленности, привлекавшей рабочих со всей страны.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989320" y="3657600"/>
            <a:ext cx="5623560" cy="2423160"/>
          </a:xfrm>
          <a:prstGeom prst="roundRect">
            <a:avLst>
              <a:gd name="adj" fmla="val 3774"/>
            </a:avLst>
          </a:prstGeom>
          <a:solidFill>
            <a:srgbClr val="1F3A5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63640" y="3886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9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«Город невест»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263640" y="443484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Историческое прозвище Иванова: на текстильных фабриках работало преимущественно женское население, что закрепило за городом этот образ в культуре и фольклоре.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26" name="Рисунок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179" y="2002155"/>
            <a:ext cx="549402" cy="5494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ЭКОНОМИКА РЕГИОНА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Отрасли экономики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6F1E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391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9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8424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Текстильная и лёгкая промышленность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74320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Исторически главная отрасль: около 40 предприятий области производят до 80% российских хлопчатобумажных тканей.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6F1E7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205740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20391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90" dirty="0">
                <a:solidFill>
                  <a:srgbClr val="000000"/>
                </a:solidFill>
              </a:rPr>
              <a:t>⚙️</a:t>
            </a:r>
            <a:endParaRPr lang="en-US" sz="169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98424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Машиностроение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74320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Производство станков, оборудования и металлических изделий для промышленности.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05072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6F1E7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279392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26110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9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20624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Химическая промышленность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965192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Развивается на базе научной школы Ивановского химико-технологического университета.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005072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6F1E7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4279392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426110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9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420624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Особая экономическая зона и ТОР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4965192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Промышленно-производственная зона «Иваново» и территории опережающего развития привлекают новых инвесторов.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348734"/>
            <a:ext cx="457200" cy="457200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358" y="4348734"/>
            <a:ext cx="457200" cy="457200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956" y="2110536"/>
            <a:ext cx="488087" cy="48808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ТРАДИЦИИ И ПРАЗДНИКИ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Традиции региона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6F1E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391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9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84248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E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Народные художественные промыслы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74320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Палехская и холуйская лаковая миниатюра передаются мастерами из поколения в поколение.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DEFE9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205740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20391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90" dirty="0">
                <a:solidFill>
                  <a:srgbClr val="000000"/>
                </a:solidFill>
              </a:rPr>
              <a:t>⛪</a:t>
            </a:r>
            <a:endParaRPr lang="en-US" sz="169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984248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E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Религиозные традиции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74320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территории области действует множество храмов и монастырей, включая Николо-Шартомский монастырь.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05072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6F1E7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279392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26110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9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20624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E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«Золотое кольцо России»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965192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Область развивает туристическую узнаваемость как часть знаменитого туристического маршрута.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005072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DEFE9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4279392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89320" y="4005072"/>
            <a:ext cx="1494555" cy="118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90" dirty="0">
                <a:solidFill>
                  <a:srgbClr val="000000"/>
                </a:solidFill>
              </a:rPr>
              <a:t>🎉</a:t>
            </a:r>
            <a:endParaRPr lang="en-US" sz="169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420624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E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День города Иваново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4965192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Ежегодный праздник с ярмарками, мастер-классами и фольклорными представлениями для жителей и гостей.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023" y="2226131"/>
            <a:ext cx="314233" cy="314233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268" y="4341406"/>
            <a:ext cx="470332" cy="4703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МЕРОПРИЯТИЯ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События культурной жизни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83664"/>
            <a:ext cx="320040" cy="320040"/>
          </a:xfrm>
          <a:prstGeom prst="ellipse">
            <a:avLst/>
          </a:prstGeom>
          <a:solidFill>
            <a:srgbClr val="8B2A2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8288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«Плёс на Волге. Льняная палитра»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2128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Российский фестиваль моды, посвящённый льняным тканям; собирает модельеров и гостей со всей страны.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935224"/>
            <a:ext cx="320040" cy="32004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26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880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«Первая фабрика авангарда»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26440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Международный фестиваль современного искусства в Иванове с выставками и арт-проектами.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986784"/>
            <a:ext cx="320040" cy="320040"/>
          </a:xfrm>
          <a:prstGeom prst="ellipse">
            <a:avLst/>
          </a:prstGeom>
          <a:solidFill>
            <a:srgbClr val="8B2A2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977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9319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День города Иваново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3159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Городской праздник с фотозонами, ярмарками и мастер-классами для жителей.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038344"/>
            <a:ext cx="320040" cy="32004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029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День России в Ивановской области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536752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Флешмобы, концерты и фестиваль патриотической песни «Славим Россию!».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АРТЕФАКТЫ И КУЛЬТУРНОЕ НАСЛЕДИЕ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можно назвать культурными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артефактами Ивановской области?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6F1E7"/>
          </a:solidFill>
          <a:ln/>
        </p:spPr>
      </p:sp>
      <p:sp>
        <p:nvSpPr>
          <p:cNvPr id="5" name="Shape 3"/>
          <p:cNvSpPr/>
          <p:nvPr/>
        </p:nvSpPr>
        <p:spPr>
          <a:xfrm>
            <a:off x="1897380" y="265176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897380" y="26334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40" dirty="0">
                <a:solidFill>
                  <a:srgbClr val="000000"/>
                </a:solidFill>
              </a:rPr>
              <a:t>🎨</a:t>
            </a:r>
            <a:endParaRPr lang="en-US" sz="234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6576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6E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Палехская лаковая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6E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миниатюра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3891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Небольшие изделия из папье-маше, украшенные живописными сюжетами.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5112" y="233172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6F1E7"/>
          </a:solidFill>
          <a:ln/>
        </p:spPr>
      </p:sp>
      <p:sp>
        <p:nvSpPr>
          <p:cNvPr id="10" name="Shape 8"/>
          <p:cNvSpPr/>
          <p:nvPr/>
        </p:nvSpPr>
        <p:spPr>
          <a:xfrm>
            <a:off x="5673852" y="265176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73852" y="26334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340" dirty="0"/>
          </a:p>
        </p:txBody>
      </p:sp>
      <p:sp>
        <p:nvSpPr>
          <p:cNvPr id="12" name="Text 10"/>
          <p:cNvSpPr txBox="1"/>
          <p:nvPr/>
        </p:nvSpPr>
        <p:spPr>
          <a:xfrm>
            <a:off x="4553712" y="36576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6E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Холуйская лаковая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6E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миниатюра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43891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из наиболее известных художественных промыслов области.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01584" y="233172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6F1E7"/>
          </a:solidFill>
          <a:ln/>
        </p:spPr>
      </p:sp>
      <p:sp>
        <p:nvSpPr>
          <p:cNvPr id="15" name="Shape 13"/>
          <p:cNvSpPr/>
          <p:nvPr/>
        </p:nvSpPr>
        <p:spPr>
          <a:xfrm>
            <a:off x="9450324" y="265176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450324" y="26334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340" dirty="0"/>
          </a:p>
        </p:txBody>
      </p:sp>
      <p:sp>
        <p:nvSpPr>
          <p:cNvPr id="17" name="Text 15"/>
          <p:cNvSpPr txBox="1"/>
          <p:nvPr/>
        </p:nvSpPr>
        <p:spPr>
          <a:xfrm>
            <a:off x="8330184" y="36576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6E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Текстиль и ситцы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375904" y="43891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Текстильное производство — важнейшая часть истории региона.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Существование специализированных государственных музеев Палехского и Холуйского искусства подтверждается официальными источниками.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8128" y="2834640"/>
            <a:ext cx="407352" cy="461454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1155" y="2845996"/>
            <a:ext cx="479209" cy="4792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СИЛЬНЫЕ И СЛАБЫЕ СТОРОНЫ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Свод и анализ: сильные и слабые стороны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4297680"/>
          </a:xfrm>
          <a:prstGeom prst="roundRect">
            <a:avLst>
              <a:gd name="adj" fmla="val 2128"/>
            </a:avLst>
          </a:prstGeom>
          <a:solidFill>
            <a:srgbClr val="EAF3E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Сильные стороны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Историческая специализация на текстильной промышленности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Уникальные художественные промыслы — Палех и Холуй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Расположение в центральной части России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Культурно-исторический и туристический потенциал</a:t>
            </a:r>
            <a:endParaRPr lang="en-US" sz="14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Города на Волге — Плёс, Кинешма, Юрьевец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440680" cy="4297680"/>
          </a:xfrm>
          <a:prstGeom prst="roundRect">
            <a:avLst>
              <a:gd name="adj" fmla="val 2128"/>
            </a:avLst>
          </a:prstGeom>
          <a:solidFill>
            <a:srgbClr val="FBECE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46520" y="1965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smtClean="0">
                <a:solidFill>
                  <a:srgbClr val="6E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⚠️  </a:t>
            </a:r>
            <a:r>
              <a:rPr lang="en-US" sz="1800" b="1" dirty="0">
                <a:solidFill>
                  <a:srgbClr val="6E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Слабые стороны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51460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Сокращение населения и демографические проблемы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 зависимость экономики от отдельных традиционных отраслей</a:t>
            </a:r>
            <a:endParaRPr lang="en-US" sz="14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Ограниченная роль добывающей промышленности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ВОЗМОЖНОСТИ И УГРОЗЫ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Возможности и угрозы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3931920"/>
          </a:xfrm>
          <a:prstGeom prst="roundRect">
            <a:avLst>
              <a:gd name="adj" fmla="val 2326"/>
            </a:avLst>
          </a:prstGeom>
          <a:solidFill>
            <a:srgbClr val="EAF0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Возможности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Развитие внутреннего туризма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Развитие бренда региона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Сохранение и популяризация народных промыслов</a:t>
            </a:r>
            <a:endParaRPr lang="en-US" sz="14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Развитие современных текстильных технологий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440680" cy="3931920"/>
          </a:xfrm>
          <a:prstGeom prst="roundRect">
            <a:avLst>
              <a:gd name="adj" fmla="val 2326"/>
            </a:avLst>
          </a:prstGeom>
          <a:solidFill>
            <a:srgbClr val="FBECE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46520" y="1965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E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Угрозы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51460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Отток населения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Старение населения</a:t>
            </a:r>
            <a:endParaRPr lang="en-US" sz="14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конкурентоспособности традиционных производств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Демографические и социально-экономические показатели региона регулярно публикуются Ивановостатом.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СОЦИОКУЛЬТУРНЫЙ КОД РЕГИОНА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Социокультурный код области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874520" cy="960120"/>
          </a:xfrm>
          <a:prstGeom prst="roundRect">
            <a:avLst>
              <a:gd name="adj" fmla="val 13333"/>
            </a:avLst>
          </a:prstGeom>
          <a:solidFill>
            <a:srgbClr val="8B2A2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4884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ТРУД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2148840"/>
            <a:ext cx="43045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7D2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853614" y="2148840"/>
            <a:ext cx="1874520" cy="960120"/>
          </a:xfrm>
          <a:prstGeom prst="roundRect">
            <a:avLst>
              <a:gd name="adj" fmla="val 13333"/>
            </a:avLst>
          </a:prstGeom>
          <a:solidFill>
            <a:srgbClr val="C999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853614" y="214884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ТЕКСТИЛЬ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728134" y="2148840"/>
            <a:ext cx="43045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7D2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158588" y="2148840"/>
            <a:ext cx="1874520" cy="960120"/>
          </a:xfrm>
          <a:prstGeom prst="roundRect">
            <a:avLst>
              <a:gd name="adj" fmla="val 13333"/>
            </a:avLst>
          </a:prstGeom>
          <a:solidFill>
            <a:srgbClr val="8B2A2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58588" y="214884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ИСКУССТВО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033108" y="2148840"/>
            <a:ext cx="43045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7D2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7463561" y="2148840"/>
            <a:ext cx="1874520" cy="960120"/>
          </a:xfrm>
          <a:prstGeom prst="roundRect">
            <a:avLst>
              <a:gd name="adj" fmla="val 13333"/>
            </a:avLst>
          </a:prstGeom>
          <a:solidFill>
            <a:srgbClr val="C999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63561" y="214884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РЕМЕСЛО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9338081" y="2148840"/>
            <a:ext cx="43045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7D2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768535" y="2148840"/>
            <a:ext cx="1874520" cy="960120"/>
          </a:xfrm>
          <a:prstGeom prst="roundRect">
            <a:avLst>
              <a:gd name="adj" fmla="val 13333"/>
            </a:avLst>
          </a:prstGeom>
          <a:solidFill>
            <a:srgbClr val="8B2A2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768535" y="214884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ИСТОРИЧЕСКАЯ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ПАМЯТЬ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3749040"/>
            <a:ext cx="10515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E3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Регион сформировался как крупный промышленный центр.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E3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Текстиль стал важной частью его образа.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E3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Палех и Холуй сделали область известной благодаря искусству.</a:t>
            </a:r>
            <a:endParaRPr lang="en-US" sz="15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550" dirty="0">
                <a:solidFill>
                  <a:srgbClr val="E3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Исторические города сохраняют связь с культурным прошлым России.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ЛЮДИ, СОБЫТИЯ, ГЕРОИ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Люди и исторические события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6F1E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391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90" dirty="0">
                <a:solidFill>
                  <a:srgbClr val="000000"/>
                </a:solidFill>
              </a:rPr>
              <a:t>🎬</a:t>
            </a:r>
            <a:endParaRPr lang="en-US" sz="169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8424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Андрей Тарковский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74320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Выдающийся советский кинорежиссёр. Родился в селе Завражье, исторически связанном с территорией современной Ивановской области.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6F1E7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205740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20391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9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98424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Исаак Левитан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74320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Тесно связан с Плёсом: именно здесь художник создал множество известных пейзажей.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11064240" cy="1874520"/>
          </a:xfrm>
          <a:prstGeom prst="roundRect">
            <a:avLst>
              <a:gd name="adj" fmla="val 4878"/>
            </a:avLst>
          </a:prstGeom>
          <a:solidFill>
            <a:srgbClr val="1F3A5F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37083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3525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</a:rPr>
              <a:t>⚔️</a:t>
            </a:r>
            <a:endParaRPr lang="en-US" sz="143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37083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9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Важное историческое событие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74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Жители территории современной Ивановской области участвовали в событиях Смутного времени и в народном ополчении Минина и Пожарского.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409" y="2151414"/>
            <a:ext cx="390618" cy="39061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ЛИЧНОСТЬ РЕГИОНА — БИОГРАФИЯ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Вячеслав Зайцев (1938–2023)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383280" cy="4206240"/>
          </a:xfrm>
          <a:prstGeom prst="roundRect">
            <a:avLst>
              <a:gd name="adj" fmla="val 3243"/>
            </a:avLst>
          </a:prstGeom>
          <a:solidFill>
            <a:srgbClr val="1F3A5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3474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99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«Красный Диор»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97764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Модельер, художник, педагог — первый советский кутюрье с мировым именем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1828800"/>
            <a:ext cx="74066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Родился в 1938 году в Иванове, в семье рабочих; детство пришлось на трудное послевоенное время.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1962 году окончил Московский текстильный институт по специальности художник-модельер.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Первым среди советских модельеров получил право показывать коллекции на неделях высокой моды в Париже; за это его называли «Красный Диор».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1982 году возглавил Московский Дом моды — первый в СССР именной модный бренд; представил свыше 70 коллекций одежды.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Его творчество особенно символично для региона с сильными текстильными традициями; в Иванове действует постоянная экспозиция, посвящённая ему.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ЛИЧНОСТЬ РЕГИОНА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Характер области в пяти словах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86588" y="2103120"/>
            <a:ext cx="2057400" cy="2103120"/>
          </a:xfrm>
          <a:prstGeom prst="roundRect">
            <a:avLst>
              <a:gd name="adj" fmla="val 6222"/>
            </a:avLst>
          </a:prstGeom>
          <a:solidFill>
            <a:srgbClr val="1F3A5F"/>
          </a:solidFill>
          <a:ln w="12700">
            <a:solidFill>
              <a:srgbClr val="C999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86588" y="23317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78028" y="333756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E6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ТЕКСТИЛЬ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26868" y="2103120"/>
            <a:ext cx="2057400" cy="2103120"/>
          </a:xfrm>
          <a:prstGeom prst="roundRect">
            <a:avLst>
              <a:gd name="adj" fmla="val 6222"/>
            </a:avLst>
          </a:prstGeom>
          <a:solidFill>
            <a:srgbClr val="1F3A5F"/>
          </a:solidFill>
          <a:ln w="12700">
            <a:solidFill>
              <a:srgbClr val="C999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52549" y="2240281"/>
            <a:ext cx="2756298" cy="1310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🎨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2918308" y="333756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E6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ИСКУССТВО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67148" y="2103120"/>
            <a:ext cx="2057400" cy="2103120"/>
          </a:xfrm>
          <a:prstGeom prst="roundRect">
            <a:avLst>
              <a:gd name="adj" fmla="val 6222"/>
            </a:avLst>
          </a:prstGeom>
          <a:solidFill>
            <a:srgbClr val="1F3A5F"/>
          </a:solidFill>
          <a:ln w="12700">
            <a:solidFill>
              <a:srgbClr val="C999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58588" y="333756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E6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ИСТОРИЯ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07428" y="2103120"/>
            <a:ext cx="2057400" cy="2103120"/>
          </a:xfrm>
          <a:prstGeom prst="roundRect">
            <a:avLst>
              <a:gd name="adj" fmla="val 6222"/>
            </a:avLst>
          </a:prstGeom>
          <a:solidFill>
            <a:srgbClr val="1F3A5F"/>
          </a:solidFill>
          <a:ln w="12700">
            <a:solidFill>
              <a:srgbClr val="C999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07428" y="23317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🌊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7398868" y="333756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E6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ВОЛГА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547708" y="2103120"/>
            <a:ext cx="2057400" cy="2103120"/>
          </a:xfrm>
          <a:prstGeom prst="roundRect">
            <a:avLst>
              <a:gd name="adj" fmla="val 6222"/>
            </a:avLst>
          </a:prstGeom>
          <a:solidFill>
            <a:srgbClr val="1F3A5F"/>
          </a:solidFill>
          <a:ln w="12700">
            <a:solidFill>
              <a:srgbClr val="C999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47708" y="23317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✨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9639148" y="333756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E6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ТРАДИЦИИ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617720"/>
            <a:ext cx="9966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50" i="1" dirty="0">
                <a:solidFill>
                  <a:srgbClr val="D9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Ивановская область — трудолюбивый, творческий и исторически богатый регион, где промышленное прошлое сочетается с искусством и народными традициями.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958" y="2457450"/>
            <a:ext cx="697230" cy="69723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2351" y="2387686"/>
            <a:ext cx="766994" cy="76699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СОВЕТЫ БЫВАЛОГО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Советы туристам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6F1E7"/>
          </a:solidFill>
          <a:ln/>
        </p:spPr>
      </p:sp>
      <p:sp>
        <p:nvSpPr>
          <p:cNvPr id="5" name="Shape 3"/>
          <p:cNvSpPr/>
          <p:nvPr/>
        </p:nvSpPr>
        <p:spPr>
          <a:xfrm>
            <a:off x="2016252" y="198424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6517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6E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Когда ехать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017520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8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Май–сентябрь — тепло и работают речные прогулки по Волге; зима хороша для маршрута «Золотого кольца».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325112" y="178308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DEFE9"/>
          </a:solidFill>
          <a:ln/>
        </p:spPr>
      </p:sp>
      <p:sp>
        <p:nvSpPr>
          <p:cNvPr id="10" name="Shape 8"/>
          <p:cNvSpPr/>
          <p:nvPr/>
        </p:nvSpPr>
        <p:spPr>
          <a:xfrm>
            <a:off x="5792724" y="198424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792724" y="19659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64" dirty="0"/>
          </a:p>
        </p:txBody>
      </p:sp>
      <p:sp>
        <p:nvSpPr>
          <p:cNvPr id="12" name="Text 10"/>
          <p:cNvSpPr txBox="1"/>
          <p:nvPr/>
        </p:nvSpPr>
        <p:spPr>
          <a:xfrm>
            <a:off x="4507992" y="26517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6E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посмотреть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017520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8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Плёс с домом-музеем Левитана, Палех и Холуй с музеями лаковой миниатюры, старинную Шую.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101584" y="178308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6F1E7"/>
          </a:solidFill>
          <a:ln/>
        </p:spPr>
      </p:sp>
      <p:sp>
        <p:nvSpPr>
          <p:cNvPr id="15" name="Shape 13"/>
          <p:cNvSpPr/>
          <p:nvPr/>
        </p:nvSpPr>
        <p:spPr>
          <a:xfrm>
            <a:off x="9569196" y="198424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569196" y="19659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64" dirty="0"/>
          </a:p>
        </p:txBody>
      </p:sp>
      <p:sp>
        <p:nvSpPr>
          <p:cNvPr id="17" name="Text 15"/>
          <p:cNvSpPr txBox="1"/>
          <p:nvPr/>
        </p:nvSpPr>
        <p:spPr>
          <a:xfrm>
            <a:off x="8284464" y="26517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6E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привезти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302752" y="3017520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8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Палехскую шкатулку, изделия из льна и хлопка, ивановский текстиль ручной работы.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48640" y="4187952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DEFE9"/>
          </a:solidFill>
          <a:ln/>
        </p:spPr>
      </p:sp>
      <p:sp>
        <p:nvSpPr>
          <p:cNvPr id="20" name="Shape 18"/>
          <p:cNvSpPr/>
          <p:nvPr/>
        </p:nvSpPr>
        <p:spPr>
          <a:xfrm>
            <a:off x="2016252" y="438912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016252" y="43708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64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50566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6E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попробовать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5422392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8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Волжскую рыбу («рыбные пироги» в Плёсе), местную выпечку и травяные чаи.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325112" y="4187952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6F1E7"/>
          </a:solidFill>
          <a:ln/>
        </p:spPr>
      </p:sp>
      <p:sp>
        <p:nvSpPr>
          <p:cNvPr id="25" name="Shape 23"/>
          <p:cNvSpPr/>
          <p:nvPr/>
        </p:nvSpPr>
        <p:spPr>
          <a:xfrm>
            <a:off x="5792724" y="438912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782494" y="4370832"/>
            <a:ext cx="59544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64" dirty="0">
                <a:solidFill>
                  <a:srgbClr val="000000"/>
                </a:solidFill>
              </a:rPr>
              <a:t>🚆</a:t>
            </a:r>
            <a:endParaRPr lang="en-US" sz="1664" dirty="0"/>
          </a:p>
        </p:txBody>
      </p:sp>
      <p:sp>
        <p:nvSpPr>
          <p:cNvPr id="27" name="Text 25"/>
          <p:cNvSpPr txBox="1"/>
          <p:nvPr/>
        </p:nvSpPr>
        <p:spPr>
          <a:xfrm>
            <a:off x="4507992" y="50566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6E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добраться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526280" y="5422392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8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Поездом или автобусом из Москвы (около 249 км); по области удобно перемещаться на автомобиле вдоль Волги.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8101584" y="4187952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DEFE9"/>
          </a:solidFill>
          <a:ln/>
        </p:spPr>
      </p:sp>
      <p:sp>
        <p:nvSpPr>
          <p:cNvPr id="30" name="Shape 28"/>
          <p:cNvSpPr/>
          <p:nvPr/>
        </p:nvSpPr>
        <p:spPr>
          <a:xfrm>
            <a:off x="9569196" y="438912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569196" y="43708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64" dirty="0">
                <a:solidFill>
                  <a:srgbClr val="000000"/>
                </a:solidFill>
              </a:rPr>
              <a:t>📸</a:t>
            </a:r>
            <a:endParaRPr lang="en-US" sz="1664" dirty="0"/>
          </a:p>
        </p:txBody>
      </p:sp>
      <p:sp>
        <p:nvSpPr>
          <p:cNvPr id="32" name="Text 30"/>
          <p:cNvSpPr txBox="1"/>
          <p:nvPr/>
        </p:nvSpPr>
        <p:spPr>
          <a:xfrm>
            <a:off x="8284464" y="50566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6E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Совет бывалого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8302752" y="5422392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8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Планируйте день в Плёсе на закат — виды с горы Левитана и Соборной горы того стоят.</a:t>
            </a:r>
            <a:endParaRPr lang="en-US" sz="1080" dirty="0"/>
          </a:p>
        </p:txBody>
      </p:sp>
      <p:sp>
        <p:nvSpPr>
          <p:cNvPr id="34" name="Text 3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pic>
        <p:nvPicPr>
          <p:cNvPr id="35" name="Рисунок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7010" y="2055006"/>
            <a:ext cx="443699" cy="443699"/>
          </a:xfrm>
          <a:prstGeom prst="rect">
            <a:avLst/>
          </a:prstGeom>
        </p:spPr>
      </p:pic>
      <p:pic>
        <p:nvPicPr>
          <p:cNvPr id="36" name="Рисунок 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870" y="2090821"/>
            <a:ext cx="432923" cy="432923"/>
          </a:xfrm>
          <a:prstGeom prst="rect">
            <a:avLst/>
          </a:prstGeom>
        </p:spPr>
      </p:pic>
      <p:pic>
        <p:nvPicPr>
          <p:cNvPr id="37" name="Рисунок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2183" y="2103120"/>
            <a:ext cx="379242" cy="379242"/>
          </a:xfrm>
          <a:prstGeom prst="rect">
            <a:avLst/>
          </a:prstGeom>
        </p:spPr>
      </p:pic>
      <p:pic>
        <p:nvPicPr>
          <p:cNvPr id="38" name="Рисунок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7010" y="4459878"/>
            <a:ext cx="443699" cy="44369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МОЁ ВОСПРИЯТИЕ МОЕЙ МАЛОЙ РОДИНЫ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Ивановская область значит для меня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06040"/>
            <a:ext cx="10241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чем у меня лично ассоциируется область — место, запах, звук, вкус детства…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Какая история или семейная память связывает меня с этим краем?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я хочу, чтобы гости узнали о моей малой родине в первую очередь?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я горжусь и что, на мой взгляд, стоит изменить в будущем?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2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206240"/>
            <a:ext cx="3840480" cy="3840480"/>
          </a:xfrm>
          <a:prstGeom prst="ellipse">
            <a:avLst/>
          </a:prstGeom>
          <a:solidFill>
            <a:srgbClr val="8B2A2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-1280160"/>
            <a:ext cx="3291840" cy="3291840"/>
          </a:xfrm>
          <a:prstGeom prst="ellipse">
            <a:avLst/>
          </a:prstGeom>
          <a:solidFill>
            <a:srgbClr val="C9992E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468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C99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01752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Ивановская область —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труд, текстиль, искусство и память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937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1759</Words>
  <Application>Microsoft Office PowerPoint</Application>
  <PresentationFormat>Широкоэкранный</PresentationFormat>
  <Paragraphs>262</Paragraphs>
  <Slides>18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Андрей Гончаров</cp:lastModifiedBy>
  <cp:revision>4</cp:revision>
  <dcterms:created xsi:type="dcterms:W3CDTF">2026-09-07T20:29:35Z</dcterms:created>
  <dcterms:modified xsi:type="dcterms:W3CDTF">2026-09-07T21:55:43Z</dcterms:modified>
</cp:coreProperties>
</file>